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21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1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3.jp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7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" Type="http://schemas.openxmlformats.org/officeDocument/2006/relationships/image" Target="../media/image1.png"/><Relationship Id="rId21" Type="http://schemas.openxmlformats.org/officeDocument/2006/relationships/image" Target="../media/image12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jp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9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5.png"/><Relationship Id="rId9" Type="http://schemas.openxmlformats.org/officeDocument/2006/relationships/image" Target="../media/image134.png"/><Relationship Id="rId14" Type="http://schemas.openxmlformats.org/officeDocument/2006/relationships/image" Target="../media/image13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3" Type="http://schemas.openxmlformats.org/officeDocument/2006/relationships/image" Target="../media/image1.png"/><Relationship Id="rId21" Type="http://schemas.openxmlformats.org/officeDocument/2006/relationships/image" Target="../media/image157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2.png"/><Relationship Id="rId20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24" Type="http://schemas.openxmlformats.org/officeDocument/2006/relationships/image" Target="../media/image160.jp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23" Type="http://schemas.openxmlformats.org/officeDocument/2006/relationships/image" Target="../media/image159.png"/><Relationship Id="rId10" Type="http://schemas.openxmlformats.org/officeDocument/2006/relationships/image" Target="../media/image146.png"/><Relationship Id="rId19" Type="http://schemas.openxmlformats.org/officeDocument/2006/relationships/image" Target="../media/image155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Relationship Id="rId22" Type="http://schemas.openxmlformats.org/officeDocument/2006/relationships/image" Target="../media/image1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0.jp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02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69.png"/><Relationship Id="rId21" Type="http://schemas.openxmlformats.org/officeDocument/2006/relationships/image" Target="../media/image189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23" Type="http://schemas.openxmlformats.org/officeDocument/2006/relationships/image" Target="../media/image191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Relationship Id="rId22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0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1.png"/><Relationship Id="rId10" Type="http://schemas.openxmlformats.org/officeDocument/2006/relationships/image" Target="../media/image197.png"/><Relationship Id="rId4" Type="http://schemas.openxmlformats.org/officeDocument/2006/relationships/image" Target="../media/image5.png"/><Relationship Id="rId9" Type="http://schemas.openxmlformats.org/officeDocument/2006/relationships/image" Target="../media/image196.png"/><Relationship Id="rId1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3" Type="http://schemas.openxmlformats.org/officeDocument/2006/relationships/image" Target="../media/image1.png"/><Relationship Id="rId21" Type="http://schemas.openxmlformats.org/officeDocument/2006/relationships/image" Target="../media/image220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5.png"/><Relationship Id="rId20" Type="http://schemas.openxmlformats.org/officeDocument/2006/relationships/image" Target="../media/image2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5" Type="http://schemas.openxmlformats.org/officeDocument/2006/relationships/image" Target="../media/image214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6502" y="-58723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749" y="4495800"/>
            <a:ext cx="4876502" cy="64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6210300"/>
            <a:ext cx="1219200" cy="381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1714500"/>
            <a:ext cx="10668000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6750"/>
              </a:lnSpc>
              <a:buNone/>
            </a:pPr>
            <a:r>
              <a:rPr lang="en-US" sz="5400" b="1" kern="0" spc="-108" dirty="0">
                <a:solidFill>
                  <a:srgbClr val="0F172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Event Manager 
</a:t>
            </a:r>
            <a:r>
              <a:rPr lang="en-US" sz="5400" b="1" kern="0" spc="-108" dirty="0">
                <a:solidFill>
                  <a:srgbClr val="1D4ED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(Hybrid Edition)</a:t>
            </a:r>
            <a:endParaRPr lang="en-US" sz="5400" dirty="0"/>
          </a:p>
        </p:txBody>
      </p:sp>
      <p:sp>
        <p:nvSpPr>
          <p:cNvPr id="7" name="Text 1"/>
          <p:cNvSpPr/>
          <p:nvPr/>
        </p:nvSpPr>
        <p:spPr>
          <a:xfrm>
            <a:off x="-304800" y="3657600"/>
            <a:ext cx="1280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3000"/>
              </a:lnSpc>
              <a:buNone/>
            </a:pPr>
            <a:r>
              <a:rPr lang="en-US" sz="27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هجين ذكي لإدارة الفعاليات والمهام 🔐 🇾🇪</a:t>
            </a:r>
            <a:endParaRPr lang="en-US" sz="2700" dirty="0"/>
          </a:p>
        </p:txBody>
      </p:sp>
      <p:sp>
        <p:nvSpPr>
          <p:cNvPr id="8" name="Text 2"/>
          <p:cNvSpPr/>
          <p:nvPr/>
        </p:nvSpPr>
        <p:spPr>
          <a:xfrm>
            <a:off x="3627299" y="4648200"/>
            <a:ext cx="49374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40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أمان سحابي 🔐 وأداء محلي سريع ⚡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9102055" y="5676900"/>
            <a:ext cx="194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إعداد: البراء </a:t>
            </a:r>
            <a:r>
              <a:rPr lang="ar-YE" sz="18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فهد صالح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9664065" y="5981700"/>
            <a:ext cx="13830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2776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909888"/>
            <a:ext cx="3606701" cy="29956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650" y="3138488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8575" y="3271838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650" y="2909888"/>
            <a:ext cx="3606850" cy="29956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349" y="3138488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324" y="3271838"/>
            <a:ext cx="2476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349" y="2909888"/>
            <a:ext cx="3606701" cy="299561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5899" y="3138488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6874" y="3271838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905500"/>
            <a:ext cx="112776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50" y="61912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61912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6191250"/>
            <a:ext cx="1524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457200"/>
            <a:ext cx="1104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نبذة عن التطبيق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-2000250" y="1100767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About Event Manager 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981200" y="1600200"/>
            <a:ext cx="97536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56"/>
              </a:lnSpc>
              <a:buNone/>
            </a:pPr>
            <a:r>
              <a:rPr lang="en-US" sz="2250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متكامل لإدارة الفعاليات والمهام اليومية، يجمع </a:t>
            </a:r>
            <a:r>
              <a:rPr lang="en-US" sz="225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أمان السحاب</a:t>
            </a:r>
            <a:r>
              <a:rPr lang="en-US" sz="2250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و</a:t>
            </a:r>
            <a:r>
              <a:rPr lang="en-US" sz="225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سرعة الأداء المحلي</a:t>
            </a:r>
            <a:r>
              <a:rPr lang="en-US" sz="2250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لتقديم تجربة مستخدم ممتازة.</a:t>
            </a:r>
            <a:endParaRPr lang="en-US" sz="2250" dirty="0"/>
          </a:p>
        </p:txBody>
      </p:sp>
      <p:sp>
        <p:nvSpPr>
          <p:cNvPr id="20" name="Text 3"/>
          <p:cNvSpPr/>
          <p:nvPr/>
        </p:nvSpPr>
        <p:spPr>
          <a:xfrm>
            <a:off x="9091345" y="3900488"/>
            <a:ext cx="1680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القوة الهجينة</a:t>
            </a:r>
            <a:endParaRPr lang="en-US" sz="1800" dirty="0"/>
          </a:p>
        </p:txBody>
      </p:sp>
      <p:sp>
        <p:nvSpPr>
          <p:cNvPr id="21" name="Text 4"/>
          <p:cNvSpPr/>
          <p:nvPr/>
        </p:nvSpPr>
        <p:spPr>
          <a:xfrm>
            <a:off x="8356699" y="4281488"/>
            <a:ext cx="3149501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يجمع بين Firebase للمصادقة و SQLite للتخزين المحلي، مما يضمن العمل بكفاءة حتى بدون اتصال بالإنترنت.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5273189" y="3900488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عالمية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4521250" y="4281488"/>
            <a:ext cx="314965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تصميم عصري يدعم الإيماءات والسحب، مع دعم لخمس لغات عالمية لتناسب جميع المستخدمين.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506319" y="3900488"/>
            <a:ext cx="15087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تنظيم شامل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685949" y="4281488"/>
            <a:ext cx="3149501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يهدف إلى تنظيم حياتك الرقمية من خلال دمج إدارة المناسبات والمهام في مكان واحد ذكي.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6076950" y="61341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 - Hybrid Edition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110490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975" y="1209675"/>
            <a:ext cx="3619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0" y="120967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752600"/>
            <a:ext cx="5372100" cy="23717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8700" y="20574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752600"/>
            <a:ext cx="5372100" cy="2371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5138" y="2057400"/>
            <a:ext cx="504825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24" y="4276725"/>
            <a:ext cx="110490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96550" y="4695825"/>
            <a:ext cx="51435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5868" y="4733925"/>
            <a:ext cx="762149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98628" y="4749201"/>
            <a:ext cx="67062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1100" y="4733925"/>
            <a:ext cx="1219349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43250" y="612457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0" y="6124575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5875" y="6124575"/>
            <a:ext cx="133350" cy="1333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-1866900" y="571500"/>
            <a:ext cx="1325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البنية التقنية الهجينة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-1866900" y="1181100"/>
            <a:ext cx="13258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أفضل ما في العالمين: سحابي  ومحلي 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7056911" y="2762250"/>
            <a:ext cx="3566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Firebase Authentication</a:t>
            </a:r>
            <a:endParaRPr lang="en-US" sz="2250" dirty="0"/>
          </a:p>
        </p:txBody>
      </p:sp>
      <p:sp>
        <p:nvSpPr>
          <p:cNvPr id="21" name="Text 3"/>
          <p:cNvSpPr/>
          <p:nvPr/>
        </p:nvSpPr>
        <p:spPr>
          <a:xfrm>
            <a:off x="6553200" y="3200400"/>
            <a:ext cx="47625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سحابي آمن لإدارة تسجيل الدخول وحماية حسابات المستخدمين.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62000" y="2828925"/>
            <a:ext cx="3314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SQLite Local Database</a:t>
            </a:r>
            <a:endParaRPr lang="en-US" sz="2250" dirty="0"/>
          </a:p>
        </p:txBody>
      </p:sp>
      <p:sp>
        <p:nvSpPr>
          <p:cNvPr id="23" name="Text 5"/>
          <p:cNvSpPr/>
          <p:nvPr/>
        </p:nvSpPr>
        <p:spPr>
          <a:xfrm>
            <a:off x="876300" y="3200400"/>
            <a:ext cx="47625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تخزين محلي يضمن سرعة الوصول والعمل بدون إنترنت (Offline First).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-1005245" y="4391025"/>
            <a:ext cx="671583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MVC Architecture (Model-View-Controller)</a:t>
            </a:r>
            <a:endParaRPr lang="en-US" sz="2250" dirty="0"/>
          </a:p>
        </p:txBody>
      </p:sp>
      <p:sp>
        <p:nvSpPr>
          <p:cNvPr id="25" name="Text 7"/>
          <p:cNvSpPr/>
          <p:nvPr/>
        </p:nvSpPr>
        <p:spPr>
          <a:xfrm>
            <a:off x="3399711" y="5000625"/>
            <a:ext cx="67158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فصل بين منطق الأعمال والواجهات البرمجية، مما يسهل التطوير والصيانة.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3070979" y="4749201"/>
            <a:ext cx="91457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2325701" y="4798623"/>
            <a:ext cx="80474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View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571352" y="4772025"/>
            <a:ext cx="146321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7345680" y="6096000"/>
            <a:ext cx="2331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Hybrid Architecture Design © 2026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2221230" y="6096000"/>
            <a:ext cx="845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أداء عالي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1192530" y="6096000"/>
            <a:ext cx="1017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أمان متقدم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192405" y="6096000"/>
            <a:ext cx="1017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Offline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2776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550" y="647700"/>
            <a:ext cx="809625" cy="419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7700"/>
            <a:ext cx="112395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1790700"/>
            <a:ext cx="3606701" cy="19573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3300" y="2019300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650" y="1790700"/>
            <a:ext cx="3606850" cy="19573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99" y="201930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349" y="1790700"/>
            <a:ext cx="3606701" cy="19573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6825" y="2019300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99" y="3976687"/>
            <a:ext cx="3606701" cy="195738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3300" y="4205288"/>
            <a:ext cx="3429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2650" y="3976687"/>
            <a:ext cx="3606850" cy="195738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66099" y="4205288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349" y="3976687"/>
            <a:ext cx="3606701" cy="195738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2550" y="4205288"/>
            <a:ext cx="342900" cy="381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113270" y="457200"/>
            <a:ext cx="446913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المميزات الرئيسية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4284345" y="952500"/>
            <a:ext cx="44691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Core Features &amp; Functionalities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323975" y="647700"/>
            <a:ext cx="97155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 لغات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3335" y="647700"/>
            <a:ext cx="134874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ذكي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9052560" y="2552700"/>
            <a:ext cx="2377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المهام (Tasks)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8356699" y="2933700"/>
            <a:ext cx="314950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إضافة قائمة مهام فرعية لكل فعالية لتنظيم أدق التفاصيل ومتابعة التنفيذ بمرونة.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5221069" y="2552700"/>
            <a:ext cx="22974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مؤشر الإنجاز الذكي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4521250" y="2933700"/>
            <a:ext cx="31496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حساب وعرض نسبة اكتمال المهام لحظياً (Progress Bar) لمتابعة سير العمل بصرياً.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1793290" y="2552700"/>
            <a:ext cx="1965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التدويل العالمي</a:t>
            </a:r>
            <a:endParaRPr lang="en-US" sz="1800" dirty="0"/>
          </a:p>
        </p:txBody>
      </p:sp>
      <p:sp>
        <p:nvSpPr>
          <p:cNvPr id="27" name="Text 9"/>
          <p:cNvSpPr/>
          <p:nvPr/>
        </p:nvSpPr>
        <p:spPr>
          <a:xfrm>
            <a:off x="685949" y="2933700"/>
            <a:ext cx="314950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كامل لـ 5 لغات: العربية 🇾🇪، الإنجليزية، الفرنسية، التركية، والصينية.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9020175" y="4738688"/>
            <a:ext cx="2400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ثبات الواجهة (UI Fix)</a:t>
            </a:r>
            <a:endParaRPr lang="en-US" sz="1800" dirty="0"/>
          </a:p>
        </p:txBody>
      </p:sp>
      <p:sp>
        <p:nvSpPr>
          <p:cNvPr id="29" name="Text 11"/>
          <p:cNvSpPr/>
          <p:nvPr/>
        </p:nvSpPr>
        <p:spPr>
          <a:xfrm>
            <a:off x="8356699" y="5119688"/>
            <a:ext cx="314950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تثبيت أيقونة تغيير اللغة في الـ AppBar لسهولة الوصول وتجربة مستخدم متسقة.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5445859" y="4738688"/>
            <a:ext cx="2148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التحكم بالإيماءات</a:t>
            </a:r>
            <a:endParaRPr lang="en-US" sz="1800" dirty="0"/>
          </a:p>
        </p:txBody>
      </p:sp>
      <p:sp>
        <p:nvSpPr>
          <p:cNvPr id="31" name="Text 13"/>
          <p:cNvSpPr/>
          <p:nvPr/>
        </p:nvSpPr>
        <p:spPr>
          <a:xfrm>
            <a:off x="4521250" y="5119688"/>
            <a:ext cx="31496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السحب (Swipe) للتفاعل السريع مع المهام مثل التعديل أو الحذف المباشر.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2058085" y="4738688"/>
            <a:ext cx="1691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تخصيص كامل</a:t>
            </a:r>
            <a:endParaRPr lang="en-US" sz="1800" dirty="0"/>
          </a:p>
        </p:txBody>
      </p:sp>
      <p:sp>
        <p:nvSpPr>
          <p:cNvPr id="33" name="Text 15"/>
          <p:cNvSpPr/>
          <p:nvPr/>
        </p:nvSpPr>
        <p:spPr>
          <a:xfrm>
            <a:off x="685949" y="5119688"/>
            <a:ext cx="314950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خيارات الوضع الليلي، تغيير الألوان، وأحجام الخطوط لتناسب تفضيلات كل مستخدم.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457200" y="6238875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تجربة مستخدم متكاملة تجمع بين </a:t>
            </a:r>
            <a:r>
              <a:rPr lang="en-US" sz="135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المرونة</a:t>
            </a: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و </a:t>
            </a:r>
            <a:r>
              <a:rPr lang="en-US" sz="135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التحكم الكامل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0550"/>
            <a:ext cx="390525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2390775"/>
            <a:ext cx="3530501" cy="137636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2300" y="2774156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7563" y="2907506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1224" y="2381834"/>
            <a:ext cx="3530650" cy="137636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3199" y="2774156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5124" y="2907506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649" y="2390775"/>
            <a:ext cx="3530501" cy="13763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3950" y="2774156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44925" y="2907506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9999" y="3995738"/>
            <a:ext cx="3530501" cy="13763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82300" y="4379119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06125" y="4512469"/>
            <a:ext cx="3619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30750" y="3995738"/>
            <a:ext cx="3530650" cy="137636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3199" y="4379119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66074" y="4512469"/>
            <a:ext cx="3238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649" y="3995738"/>
            <a:ext cx="3530501" cy="137636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3950" y="4379119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44925" y="4512469"/>
            <a:ext cx="2476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753100"/>
            <a:ext cx="11049000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06075" y="60388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81825" y="60388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76650" y="6038850"/>
            <a:ext cx="1524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924300" y="381000"/>
            <a:ext cx="7543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الأدوات والمكتبات المستخدمة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3257550" y="876300"/>
            <a:ext cx="6286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Tech Stack &amp; Libraries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-1638300" y="1714500"/>
            <a:ext cx="1325880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 اختيار هذه التقنيات بعناية لضمان </a:t>
            </a:r>
            <a:r>
              <a:rPr lang="en-US" sz="180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أداء عالٍ</a:t>
            </a: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، </a:t>
            </a:r>
            <a:r>
              <a:rPr lang="en-US" sz="180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تجربة مستخدم سلسة</a:t>
            </a: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، و</a:t>
            </a:r>
            <a:r>
              <a:rPr lang="en-US" sz="180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بنية برمجية قابلة للتوسع</a:t>
            </a: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1800" dirty="0"/>
          </a:p>
        </p:txBody>
      </p:sp>
      <p:sp>
        <p:nvSpPr>
          <p:cNvPr id="30" name="Text 3"/>
          <p:cNvSpPr/>
          <p:nvPr/>
        </p:nvSpPr>
        <p:spPr>
          <a:xfrm>
            <a:off x="7632799" y="2659856"/>
            <a:ext cx="22732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Flutter</a:t>
            </a:r>
            <a:endParaRPr lang="en-US" sz="1800" dirty="0"/>
          </a:p>
        </p:txBody>
      </p:sp>
      <p:sp>
        <p:nvSpPr>
          <p:cNvPr id="31" name="Text 4"/>
          <p:cNvSpPr/>
          <p:nvPr/>
        </p:nvSpPr>
        <p:spPr>
          <a:xfrm>
            <a:off x="8270974" y="2964656"/>
            <a:ext cx="22732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إطار عمل واجهة المستخدم (UI Framework)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3830419" y="2640806"/>
            <a:ext cx="25031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Firebase Auth</a:t>
            </a:r>
            <a:endParaRPr lang="en-US" sz="1800" dirty="0"/>
          </a:p>
        </p:txBody>
      </p:sp>
      <p:sp>
        <p:nvSpPr>
          <p:cNvPr id="33" name="Text 6"/>
          <p:cNvSpPr/>
          <p:nvPr/>
        </p:nvSpPr>
        <p:spPr>
          <a:xfrm>
            <a:off x="4281904" y="3098006"/>
            <a:ext cx="25031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المصادقة وحماية البيانات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152549" y="2659856"/>
            <a:ext cx="227320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Sqflite</a:t>
            </a:r>
            <a:endParaRPr lang="en-US" sz="1800" dirty="0"/>
          </a:p>
        </p:txBody>
      </p:sp>
      <p:sp>
        <p:nvSpPr>
          <p:cNvPr id="35" name="Text 8"/>
          <p:cNvSpPr/>
          <p:nvPr/>
        </p:nvSpPr>
        <p:spPr>
          <a:xfrm>
            <a:off x="695474" y="2964656"/>
            <a:ext cx="227320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قاعدة بيانات محلية (Local Database)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8162925" y="4398169"/>
            <a:ext cx="1943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GetX</a:t>
            </a:r>
            <a:endParaRPr lang="en-US" sz="1800" dirty="0"/>
          </a:p>
        </p:txBody>
      </p:sp>
      <p:sp>
        <p:nvSpPr>
          <p:cNvPr id="37" name="Text 10"/>
          <p:cNvSpPr/>
          <p:nvPr/>
        </p:nvSpPr>
        <p:spPr>
          <a:xfrm>
            <a:off x="8212455" y="4702969"/>
            <a:ext cx="2331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الحالة، التنقل، والتدويل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2961680" y="4264819"/>
            <a:ext cx="27280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GetStorage</a:t>
            </a:r>
            <a:endParaRPr lang="en-US" sz="1800" dirty="0"/>
          </a:p>
        </p:txBody>
      </p:sp>
      <p:sp>
        <p:nvSpPr>
          <p:cNvPr id="39" name="Text 12"/>
          <p:cNvSpPr/>
          <p:nvPr/>
        </p:nvSpPr>
        <p:spPr>
          <a:xfrm>
            <a:off x="4511725" y="4569619"/>
            <a:ext cx="2273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التفضيلات المحلية والتخزين المؤقت</a:t>
            </a:r>
            <a:endParaRPr lang="en-US" sz="1350" dirty="0"/>
          </a:p>
        </p:txBody>
      </p:sp>
      <p:sp>
        <p:nvSpPr>
          <p:cNvPr id="40" name="Text 13"/>
          <p:cNvSpPr/>
          <p:nvPr/>
        </p:nvSpPr>
        <p:spPr>
          <a:xfrm>
            <a:off x="701725" y="4398169"/>
            <a:ext cx="20478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Intl</a:t>
            </a:r>
            <a:endParaRPr lang="en-US" sz="1800" dirty="0"/>
          </a:p>
        </p:txBody>
      </p:sp>
      <p:sp>
        <p:nvSpPr>
          <p:cNvPr id="41" name="Text 14"/>
          <p:cNvSpPr/>
          <p:nvPr/>
        </p:nvSpPr>
        <p:spPr>
          <a:xfrm>
            <a:off x="568375" y="4702969"/>
            <a:ext cx="2457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تنسيق التاريخ والوقت العالمي</a:t>
            </a:r>
            <a:endParaRPr lang="en-US" sz="1350" dirty="0"/>
          </a:p>
        </p:txBody>
      </p:sp>
      <p:sp>
        <p:nvSpPr>
          <p:cNvPr id="42" name="Text 15"/>
          <p:cNvSpPr/>
          <p:nvPr/>
        </p:nvSpPr>
        <p:spPr>
          <a:xfrm>
            <a:off x="8185785" y="5981700"/>
            <a:ext cx="2148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البنية الأساسية (Core)</a:t>
            </a:r>
            <a:endParaRPr lang="en-US" sz="1500" dirty="0"/>
          </a:p>
        </p:txBody>
      </p:sp>
      <p:sp>
        <p:nvSpPr>
          <p:cNvPr id="43" name="Text 16"/>
          <p:cNvSpPr/>
          <p:nvPr/>
        </p:nvSpPr>
        <p:spPr>
          <a:xfrm>
            <a:off x="4924425" y="5981700"/>
            <a:ext cx="1885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البيانات (Data)</a:t>
            </a:r>
            <a:endParaRPr lang="en-US" sz="1500" dirty="0"/>
          </a:p>
        </p:txBody>
      </p:sp>
      <p:sp>
        <p:nvSpPr>
          <p:cNvPr id="44" name="Text 17"/>
          <p:cNvSpPr/>
          <p:nvPr/>
        </p:nvSpPr>
        <p:spPr>
          <a:xfrm>
            <a:off x="1070610" y="5981700"/>
            <a:ext cx="2434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الأدوات المساعدة (Utils)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66750"/>
            <a:ext cx="2057400" cy="419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850" y="1676400"/>
            <a:ext cx="3555950" cy="4229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650" y="1981200"/>
            <a:ext cx="294635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2825" y="2009775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27051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31242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35433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39624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7100" y="43815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4725" y="4800600"/>
            <a:ext cx="1428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899" y="1676400"/>
            <a:ext cx="3632150" cy="1308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5425" y="1905000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1676400"/>
            <a:ext cx="3632299" cy="1308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8499" y="19050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1899" y="3136850"/>
            <a:ext cx="3632150" cy="1308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2100" y="3365450"/>
            <a:ext cx="17145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3136850"/>
            <a:ext cx="3632299" cy="13080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08499" y="33654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1899" y="4597301"/>
            <a:ext cx="3632150" cy="130819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45425" y="4825901"/>
            <a:ext cx="238125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597301"/>
            <a:ext cx="3632299" cy="130819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08499" y="4825901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6300788"/>
            <a:ext cx="609600" cy="9525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7271385" y="457200"/>
            <a:ext cx="40919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هيكلة المشروع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7585710" y="990600"/>
            <a:ext cx="4091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تنظيم الكود بنمط MVC وتوزيع المهام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-243156" y="723900"/>
            <a:ext cx="246888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lib/ folder structure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8012609" y="1981200"/>
            <a:ext cx="2946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lib/</a:t>
            </a:r>
            <a:endParaRPr lang="en-US" sz="1800" dirty="0"/>
          </a:p>
        </p:txBody>
      </p:sp>
      <p:sp>
        <p:nvSpPr>
          <p:cNvPr id="30" name="Text 4"/>
          <p:cNvSpPr/>
          <p:nvPr/>
        </p:nvSpPr>
        <p:spPr>
          <a:xfrm>
            <a:off x="7567612" y="26670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</a:t>
            </a:r>
            <a:endParaRPr lang="en-US" sz="1500" dirty="0"/>
          </a:p>
        </p:txBody>
      </p:sp>
      <p:sp>
        <p:nvSpPr>
          <p:cNvPr id="31" name="Text 5"/>
          <p:cNvSpPr/>
          <p:nvPr/>
        </p:nvSpPr>
        <p:spPr>
          <a:xfrm>
            <a:off x="6764834" y="30861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controllers/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7338268" y="35052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models/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7452866" y="39243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views/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7567612" y="43434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l10n/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7041803" y="4762500"/>
            <a:ext cx="294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main.dart</a:t>
            </a:r>
            <a:endParaRPr lang="en-US" sz="1500" dirty="0"/>
          </a:p>
        </p:txBody>
      </p:sp>
      <p:sp>
        <p:nvSpPr>
          <p:cNvPr id="36" name="Text 10"/>
          <p:cNvSpPr/>
          <p:nvPr/>
        </p:nvSpPr>
        <p:spPr>
          <a:xfrm>
            <a:off x="3765649" y="1866900"/>
            <a:ext cx="325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core/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4384774" y="2209800"/>
            <a:ext cx="3251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إعدادات Firebase، مساعد SQLite (DbHelper)، وخدمات الترجمة الأساسية.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-504825" y="1866900"/>
            <a:ext cx="32512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controllers/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600075" y="2209800"/>
            <a:ext cx="32512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منطق الأعمال (GetX) للفعاليات والمهام وربطها بالواجهات.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3575149" y="3327350"/>
            <a:ext cx="325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models/</a:t>
            </a: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4384774" y="3670250"/>
            <a:ext cx="3251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تعريف هيكل البيانات للفعاليات (Event) والمهام (Task).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-95250" y="3327350"/>
            <a:ext cx="32512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views/</a:t>
            </a:r>
            <a:endParaRPr lang="en-US" sz="1500" dirty="0"/>
          </a:p>
        </p:txBody>
      </p:sp>
      <p:sp>
        <p:nvSpPr>
          <p:cNvPr id="43" name="Text 17"/>
          <p:cNvSpPr/>
          <p:nvPr/>
        </p:nvSpPr>
        <p:spPr>
          <a:xfrm>
            <a:off x="504825" y="3670250"/>
            <a:ext cx="32512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شاشات التطبيق: الرئيسية، التفاصيل، الإعدادات، والدردشة.</a:t>
            </a:r>
            <a:endParaRPr lang="en-US" sz="1350" dirty="0"/>
          </a:p>
        </p:txBody>
      </p:sp>
      <p:sp>
        <p:nvSpPr>
          <p:cNvPr id="44" name="Text 18"/>
          <p:cNvSpPr/>
          <p:nvPr/>
        </p:nvSpPr>
        <p:spPr>
          <a:xfrm>
            <a:off x="3756124" y="4787801"/>
            <a:ext cx="325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l10n/</a:t>
            </a:r>
            <a:endParaRPr lang="en-US" sz="1500" dirty="0"/>
          </a:p>
        </p:txBody>
      </p:sp>
      <p:sp>
        <p:nvSpPr>
          <p:cNvPr id="45" name="Text 19"/>
          <p:cNvSpPr/>
          <p:nvPr/>
        </p:nvSpPr>
        <p:spPr>
          <a:xfrm>
            <a:off x="4318099" y="5130701"/>
            <a:ext cx="3251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ملفات الترجمة العالمية (ARB) لدعم اللغات الخمس.</a:t>
            </a:r>
            <a:endParaRPr lang="en-US" sz="1350" dirty="0"/>
          </a:p>
        </p:txBody>
      </p:sp>
      <p:sp>
        <p:nvSpPr>
          <p:cNvPr id="46" name="Text 20"/>
          <p:cNvSpPr/>
          <p:nvPr/>
        </p:nvSpPr>
        <p:spPr>
          <a:xfrm>
            <a:off x="-409575" y="4787801"/>
            <a:ext cx="32512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main.dart</a:t>
            </a:r>
            <a:endParaRPr lang="en-US" sz="1500" dirty="0"/>
          </a:p>
        </p:txBody>
      </p:sp>
      <p:sp>
        <p:nvSpPr>
          <p:cNvPr id="47" name="Text 21"/>
          <p:cNvSpPr/>
          <p:nvPr/>
        </p:nvSpPr>
        <p:spPr>
          <a:xfrm>
            <a:off x="600075" y="5130701"/>
            <a:ext cx="32512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نقطة الانطلاق، تهيئة الخدمات، وإعداد المسارات (Routing).</a:t>
            </a:r>
            <a:endParaRPr lang="en-US" sz="1350" dirty="0"/>
          </a:p>
        </p:txBody>
      </p:sp>
      <p:sp>
        <p:nvSpPr>
          <p:cNvPr id="48" name="Text 22"/>
          <p:cNvSpPr/>
          <p:nvPr/>
        </p:nvSpPr>
        <p:spPr>
          <a:xfrm>
            <a:off x="662940" y="6210300"/>
            <a:ext cx="2708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هيكلة برمجية نظيفة وقابلة للتوسع (MVC)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104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104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04800"/>
            <a:ext cx="115824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374106"/>
            <a:ext cx="5600700" cy="28051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0" y="2631281"/>
            <a:ext cx="3238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8100" y="3136106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8100" y="3907631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8100" y="4679156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4299" y="2767013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2899" y="2957513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1899" y="4748213"/>
            <a:ext cx="10668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7598" y="4748213"/>
            <a:ext cx="711101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6486525"/>
            <a:ext cx="1158240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00" y="6696075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6696075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6696075"/>
            <a:ext cx="17145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-123825" y="304800"/>
            <a:ext cx="11353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شاشة الترحيب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-1038225" y="762000"/>
            <a:ext cx="11353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Splash Screen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5010150" y="2602706"/>
            <a:ext cx="61722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تجربة البدء (First Impression)</a:t>
            </a:r>
            <a:endParaRPr lang="en-US" sz="2250" dirty="0"/>
          </a:p>
        </p:txBody>
      </p:sp>
      <p:sp>
        <p:nvSpPr>
          <p:cNvPr id="22" name="Text 3"/>
          <p:cNvSpPr/>
          <p:nvPr/>
        </p:nvSpPr>
        <p:spPr>
          <a:xfrm>
            <a:off x="6515100" y="3098006"/>
            <a:ext cx="48006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هوية بصرية قوية:</a:t>
            </a: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واجهة جذابة تعبر عن شعار "Event Manager Pro".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6515100" y="3869531"/>
            <a:ext cx="48006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سلاسة الانتقال:</a:t>
            </a: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توفير تجربة مستخدم انسيابية عند فتح التطبيق.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5181600" y="4641056"/>
            <a:ext cx="5257800" cy="309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تحميل ذكي:</a:t>
            </a: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عرض الشاشة أثناء تهيئة الخدمات الأساسية.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1903914" y="3719512"/>
            <a:ext cx="240262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kern="0" spc="36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Pro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1903914" y="4062412"/>
            <a:ext cx="240262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Hybrid Edition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10262235" y="6638925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تطوير: البراء - 2026</a:t>
            </a:r>
            <a:endParaRPr lang="en-US" sz="1350" dirty="0"/>
          </a:p>
        </p:txBody>
      </p:sp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9CBE62E3-6941-672D-5FEE-3EFB954098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391" y="1151017"/>
            <a:ext cx="2476500" cy="4953000"/>
          </a:xfrm>
          <a:prstGeom prst="rect">
            <a:avLst/>
          </a:prstGeom>
        </p:spPr>
      </p:pic>
      <p:sp>
        <p:nvSpPr>
          <p:cNvPr id="28" name="مستطيل: زوايا مستديرة 27">
            <a:extLst>
              <a:ext uri="{FF2B5EF4-FFF2-40B4-BE49-F238E27FC236}">
                <a16:creationId xmlns:a16="http://schemas.microsoft.com/office/drawing/2014/main" id="{2E926E8C-04D1-35FF-F5C6-D629AAD631FA}"/>
              </a:ext>
            </a:extLst>
          </p:cNvPr>
          <p:cNvSpPr/>
          <p:nvPr/>
        </p:nvSpPr>
        <p:spPr>
          <a:xfrm>
            <a:off x="764880" y="1235931"/>
            <a:ext cx="2440104" cy="4765693"/>
          </a:xfrm>
          <a:prstGeom prst="roundRect">
            <a:avLst/>
          </a:prstGeom>
          <a:blipFill dpi="0"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260" y="1349315"/>
            <a:ext cx="55626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220980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2850" y="2266950"/>
            <a:ext cx="1143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7600" y="28575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2850" y="2914650"/>
            <a:ext cx="1143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76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2850" y="3371850"/>
            <a:ext cx="1143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447800"/>
            <a:ext cx="5562600" cy="2438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9450" y="2095500"/>
            <a:ext cx="249555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22098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095500"/>
            <a:ext cx="249555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8313" y="22098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9450" y="2933700"/>
            <a:ext cx="249555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8163" y="304800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933700"/>
            <a:ext cx="2495550" cy="723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1650" y="30480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038600"/>
            <a:ext cx="5562600" cy="1866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72063" y="4648200"/>
            <a:ext cx="5334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43513" y="47815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12431" y="4857750"/>
            <a:ext cx="104775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6063" y="4610100"/>
            <a:ext cx="609600" cy="609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90850" y="4762500"/>
            <a:ext cx="200025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4519" y="4857750"/>
            <a:ext cx="10477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4648200"/>
            <a:ext cx="533400" cy="533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5338" y="4781550"/>
            <a:ext cx="238125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6057900"/>
            <a:ext cx="11430000" cy="4191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6210300"/>
            <a:ext cx="1809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210300"/>
            <a:ext cx="190500" cy="2667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-2040255" y="381000"/>
            <a:ext cx="134416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الدخول والاشتراك</a:t>
            </a:r>
            <a:endParaRPr lang="en-US" sz="3600" dirty="0"/>
          </a:p>
        </p:txBody>
      </p:sp>
      <p:sp>
        <p:nvSpPr>
          <p:cNvPr id="33" name="Text 1"/>
          <p:cNvSpPr/>
          <p:nvPr/>
        </p:nvSpPr>
        <p:spPr>
          <a:xfrm>
            <a:off x="-2505075" y="914400"/>
            <a:ext cx="11201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Secure Authentication System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5303520" y="1676400"/>
            <a:ext cx="61264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المصادقة السحابي</a:t>
            </a:r>
            <a:endParaRPr lang="en-US" sz="2250" dirty="0"/>
          </a:p>
        </p:txBody>
      </p:sp>
      <p:sp>
        <p:nvSpPr>
          <p:cNvPr id="35" name="Text 3"/>
          <p:cNvSpPr/>
          <p:nvPr/>
        </p:nvSpPr>
        <p:spPr>
          <a:xfrm>
            <a:off x="6477000" y="2171700"/>
            <a:ext cx="4648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يعتمد على </a:t>
            </a:r>
            <a:r>
              <a:rPr lang="en-US" sz="15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Firebase Authentication</a:t>
            </a: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لإدارة هويات المستخدمين.</a:t>
            </a:r>
            <a:endParaRPr lang="en-US" sz="1500" dirty="0"/>
          </a:p>
        </p:txBody>
      </p:sp>
      <p:sp>
        <p:nvSpPr>
          <p:cNvPr id="36" name="Text 4"/>
          <p:cNvSpPr/>
          <p:nvPr/>
        </p:nvSpPr>
        <p:spPr>
          <a:xfrm>
            <a:off x="5751195" y="2819400"/>
            <a:ext cx="46062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يوفر مصادقة قوية تضمن حماية البيانات الشخصية.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5124450" y="3276600"/>
            <a:ext cx="5143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واجهات تسجيل دخول واشتراك عصرية وسهلة الاستخدام.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533400" y="16764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Firebase؟</a:t>
            </a:r>
            <a:endParaRPr lang="en-US" sz="1800" dirty="0"/>
          </a:p>
        </p:txBody>
      </p:sp>
      <p:sp>
        <p:nvSpPr>
          <p:cNvPr id="39" name="Text 7"/>
          <p:cNvSpPr/>
          <p:nvPr/>
        </p:nvSpPr>
        <p:spPr>
          <a:xfrm>
            <a:off x="3333750" y="2476500"/>
            <a:ext cx="2266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تشفير كامل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23900" y="2476500"/>
            <a:ext cx="2266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سحابية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3333750" y="3314700"/>
            <a:ext cx="2266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حماية الحساب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497205" y="3314700"/>
            <a:ext cx="2720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استجابة سريعة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53340" y="42291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المصادقة (Auth Flow)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4827270" y="5181600"/>
            <a:ext cx="81153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إدخال البيانات</a:t>
            </a:r>
            <a:endParaRPr lang="en-US" sz="900" dirty="0"/>
          </a:p>
        </p:txBody>
      </p:sp>
      <p:sp>
        <p:nvSpPr>
          <p:cNvPr id="45" name="Text 13"/>
          <p:cNvSpPr/>
          <p:nvPr/>
        </p:nvSpPr>
        <p:spPr>
          <a:xfrm>
            <a:off x="2439353" y="5219700"/>
            <a:ext cx="10515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التحقق (Firebase)</a:t>
            </a:r>
            <a:endParaRPr lang="en-US" sz="900" dirty="0"/>
          </a:p>
        </p:txBody>
      </p:sp>
      <p:sp>
        <p:nvSpPr>
          <p:cNvPr id="46" name="Text 14"/>
          <p:cNvSpPr/>
          <p:nvPr/>
        </p:nvSpPr>
        <p:spPr>
          <a:xfrm>
            <a:off x="510540" y="5181600"/>
            <a:ext cx="594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دخول آمن</a:t>
            </a:r>
            <a:endParaRPr lang="en-US" sz="900" dirty="0"/>
          </a:p>
        </p:txBody>
      </p:sp>
      <p:sp>
        <p:nvSpPr>
          <p:cNvPr id="47" name="Text 15"/>
          <p:cNvSpPr/>
          <p:nvPr/>
        </p:nvSpPr>
        <p:spPr>
          <a:xfrm>
            <a:off x="6153150" y="62103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Pro - Hybrid Edition</a:t>
            </a:r>
            <a:endParaRPr lang="en-US" sz="1350" dirty="0"/>
          </a:p>
        </p:txBody>
      </p:sp>
      <p:sp>
        <p:nvSpPr>
          <p:cNvPr id="48" name="مستطيل: زوايا مستديرة 47">
            <a:extLst>
              <a:ext uri="{FF2B5EF4-FFF2-40B4-BE49-F238E27FC236}">
                <a16:creationId xmlns:a16="http://schemas.microsoft.com/office/drawing/2014/main" id="{0FD6881A-8404-F286-150E-7470E7C2FCAB}"/>
              </a:ext>
            </a:extLst>
          </p:cNvPr>
          <p:cNvSpPr/>
          <p:nvPr/>
        </p:nvSpPr>
        <p:spPr>
          <a:xfrm>
            <a:off x="9405937" y="3675573"/>
            <a:ext cx="1995488" cy="2229928"/>
          </a:xfrm>
          <a:prstGeom prst="roundRect">
            <a:avLst/>
          </a:prstGeom>
          <a:blipFill dpi="0"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9" name="مستطيل: زوايا مستديرة 48">
            <a:extLst>
              <a:ext uri="{FF2B5EF4-FFF2-40B4-BE49-F238E27FC236}">
                <a16:creationId xmlns:a16="http://schemas.microsoft.com/office/drawing/2014/main" id="{EC337BD8-3FCB-D39A-6077-E2B0E2BBF8B0}"/>
              </a:ext>
            </a:extLst>
          </p:cNvPr>
          <p:cNvSpPr/>
          <p:nvPr/>
        </p:nvSpPr>
        <p:spPr>
          <a:xfrm>
            <a:off x="7026117" y="3689230"/>
            <a:ext cx="1851183" cy="2229928"/>
          </a:xfrm>
          <a:prstGeom prst="roundRect">
            <a:avLst/>
          </a:prstGeom>
          <a:blipFill dpi="0"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63"/>
            <a:ext cx="12192000" cy="71342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2776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00" y="249555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6663" y="2590800"/>
            <a:ext cx="2190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3105150"/>
            <a:ext cx="5486400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4095750"/>
            <a:ext cx="548640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5086350"/>
            <a:ext cx="5486400" cy="876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249555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25908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0188" y="348615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257925"/>
            <a:ext cx="11277600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8275" y="6410325"/>
            <a:ext cx="8096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6410325"/>
            <a:ext cx="828675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-1905000" y="457200"/>
            <a:ext cx="13258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الشاشة الرئيسية والقائمة الجانبية</a:t>
            </a:r>
            <a:endParaRPr lang="en-US" sz="3600" dirty="0"/>
          </a:p>
        </p:txBody>
      </p:sp>
      <p:sp>
        <p:nvSpPr>
          <p:cNvPr id="24" name="Text 1"/>
          <p:cNvSpPr/>
          <p:nvPr/>
        </p:nvSpPr>
        <p:spPr>
          <a:xfrm>
            <a:off x="-2886075" y="9906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Home Screen &amp; Sidebar Navigation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3200400" y="1524000"/>
            <a:ext cx="85344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تصميم لشاشة الرئيسية وقائمة الجدران لتطبيق إدارة الأحداث، حيث توفر الشاشة نظرة شاملة وفورية على جميع الفعاليات، بينما تضمن القائمة الجانبية تنقلاً سلساً بين أقسام التطبيق.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8502015" y="2552700"/>
            <a:ext cx="25374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الشاشة الرئيسية</a:t>
            </a:r>
            <a:endParaRPr lang="en-US" sz="2250" dirty="0"/>
          </a:p>
        </p:txBody>
      </p:sp>
      <p:sp>
        <p:nvSpPr>
          <p:cNvPr id="27" name="Text 4"/>
          <p:cNvSpPr/>
          <p:nvPr/>
        </p:nvSpPr>
        <p:spPr>
          <a:xfrm>
            <a:off x="6286500" y="32575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الفعاليات القادمة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5316855" y="356235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بطاقات تفاعلية تعرض تفاصيل كل فعالية مع شريط تقدم ذكي.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6343650" y="42481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الوصول السريع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5316855" y="455295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إمكانية إضافة فعالية جديدة بلمسة واحدة.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334125" y="523875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40A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تحديثات لحظية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5316855" y="554355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انعكاس مباشر لأي تغييرات تتم على المهام.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1533525" y="2552700"/>
            <a:ext cx="37147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القائمة الجانبية (Drawer)</a:t>
            </a:r>
            <a:endParaRPr lang="en-US" sz="2250" dirty="0"/>
          </a:p>
        </p:txBody>
      </p:sp>
      <p:sp>
        <p:nvSpPr>
          <p:cNvPr id="34" name="Text 11"/>
          <p:cNvSpPr/>
          <p:nvPr/>
        </p:nvSpPr>
        <p:spPr>
          <a:xfrm>
            <a:off x="3286125" y="3409950"/>
            <a:ext cx="1543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 المستخدم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4526280" y="6410325"/>
            <a:ext cx="3931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Pro - User Interface Overview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581025" y="6410325"/>
            <a:ext cx="971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UX Design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-422910" y="6410325"/>
            <a:ext cx="9944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44" name="مستطيل: زوايا مستديرة 43">
            <a:extLst>
              <a:ext uri="{FF2B5EF4-FFF2-40B4-BE49-F238E27FC236}">
                <a16:creationId xmlns:a16="http://schemas.microsoft.com/office/drawing/2014/main" id="{46D3EF72-E465-19DA-257B-1D4993C56458}"/>
              </a:ext>
            </a:extLst>
          </p:cNvPr>
          <p:cNvSpPr/>
          <p:nvPr/>
        </p:nvSpPr>
        <p:spPr>
          <a:xfrm>
            <a:off x="2379422" y="3107037"/>
            <a:ext cx="2146858" cy="3143340"/>
          </a:xfrm>
          <a:prstGeom prst="round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505" y="-163902"/>
            <a:ext cx="1239526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76250"/>
            <a:ext cx="112395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054" y="958791"/>
            <a:ext cx="2501265" cy="13022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460" y="1039483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10072508" y="2210068"/>
            <a:ext cx="1809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5696" y="2558630"/>
            <a:ext cx="2857500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571" y="278723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7286" y="2237567"/>
            <a:ext cx="180975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7400" y="1708209"/>
            <a:ext cx="2857500" cy="1485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3275" y="1936809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4629150"/>
            <a:ext cx="554355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72825" y="4819650"/>
            <a:ext cx="390525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49025" y="489585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250" y="4629150"/>
            <a:ext cx="554355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3550" y="4819650"/>
            <a:ext cx="32385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0" y="48958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5581650"/>
            <a:ext cx="554355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39500" y="5772150"/>
            <a:ext cx="32385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15700" y="584835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250" y="5581650"/>
            <a:ext cx="554355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24500" y="5772150"/>
            <a:ext cx="342900" cy="419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00700" y="584835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23850" y="476250"/>
            <a:ext cx="11010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الفعاليات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-3114675" y="1009650"/>
            <a:ext cx="11010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Management (Create, Edit, List)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8487727" y="1479071"/>
            <a:ext cx="2880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إنشاء الفعالية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8442959" y="1793216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إضافة العنوان والوصف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8894266" y="3206330"/>
            <a:ext cx="2880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عرض القائمة</a:t>
            </a:r>
            <a:endParaRPr lang="en-US" sz="1800" dirty="0"/>
          </a:p>
        </p:txBody>
      </p:sp>
      <p:sp>
        <p:nvSpPr>
          <p:cNvPr id="29" name="Text 5"/>
          <p:cNvSpPr/>
          <p:nvPr/>
        </p:nvSpPr>
        <p:spPr>
          <a:xfrm>
            <a:off x="8894266" y="3549230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نظرة عامة لجميع الفعاليات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5855970" y="2355909"/>
            <a:ext cx="2880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التعديل والحذف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5855970" y="2698809"/>
            <a:ext cx="2880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تحديث البيانات أو المسح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8759190" y="4781550"/>
            <a:ext cx="2194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ذكي (Swipe)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8749665" y="504825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الإيماءات للتعديل السريع.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3541395" y="4781550"/>
            <a:ext cx="17259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مزامنة محلية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3579495" y="5048250"/>
            <a:ext cx="1725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حفظ فوري في SQLite.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505825" y="573405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تنسيق ذكي للوقت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8534400" y="6000750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استخدام مكتبة Intl لعرض التواريخ.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2103120" y="5734050"/>
            <a:ext cx="315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مستجيبة</a:t>
            </a:r>
            <a:endParaRPr lang="en-US" sz="1500" dirty="0"/>
          </a:p>
        </p:txBody>
      </p:sp>
      <p:sp>
        <p:nvSpPr>
          <p:cNvPr id="39" name="Text 15"/>
          <p:cNvSpPr/>
          <p:nvPr/>
        </p:nvSpPr>
        <p:spPr>
          <a:xfrm>
            <a:off x="2179320" y="6000750"/>
            <a:ext cx="3154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تصميم يتناسب مع مختلف أحجام الشاشات.</a:t>
            </a:r>
            <a:endParaRPr lang="en-US" sz="1200" dirty="0"/>
          </a:p>
        </p:txBody>
      </p:sp>
      <p:sp>
        <p:nvSpPr>
          <p:cNvPr id="40" name="مستطيل: زوايا مستديرة 39">
            <a:extLst>
              <a:ext uri="{FF2B5EF4-FFF2-40B4-BE49-F238E27FC236}">
                <a16:creationId xmlns:a16="http://schemas.microsoft.com/office/drawing/2014/main" id="{BE3ECD21-6D3A-421F-6399-79068FADA7D9}"/>
              </a:ext>
            </a:extLst>
          </p:cNvPr>
          <p:cNvSpPr/>
          <p:nvPr/>
        </p:nvSpPr>
        <p:spPr>
          <a:xfrm>
            <a:off x="344140" y="741153"/>
            <a:ext cx="2800350" cy="4707147"/>
          </a:xfrm>
          <a:prstGeom prst="round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09600"/>
            <a:ext cx="3429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1447800"/>
            <a:ext cx="57150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16383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2590800"/>
            <a:ext cx="5715000" cy="1257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9975" y="27813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4000500"/>
            <a:ext cx="5715000" cy="1943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0" y="42291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1447800"/>
            <a:ext cx="2476500" cy="495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981200"/>
            <a:ext cx="2095500" cy="43815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010150" y="381000"/>
            <a:ext cx="6457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المهام ومؤشر الإنجاز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5105400" y="914400"/>
            <a:ext cx="64579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تتبع دقيق وتفاعل ذكي مع كل تفاصيل الفعالية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8722995" y="1638300"/>
            <a:ext cx="21831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قوائم مهام فرعية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4981575" y="1981200"/>
            <a:ext cx="640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تقسيم المهام إلى مهام صغيرة محددة لضمان عدم نسيان التفاصيل.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8408670" y="2781300"/>
            <a:ext cx="25831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ذكي بالإيماءات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6000750" y="3124200"/>
            <a:ext cx="5334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حركات السحب للتفاعل السريع: سحب لليسار للحذف، وسحب لليمين للتعديل.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4762500" y="4191000"/>
            <a:ext cx="640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مؤشر الإنجاز اللحظي (Progress Bar)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5562600" y="5562600"/>
            <a:ext cx="6400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تحديث النسبة تلقائياً عند إتمام أي مهمة</a:t>
            </a:r>
            <a:endParaRPr lang="en-US" sz="1050" dirty="0"/>
          </a:p>
        </p:txBody>
      </p:sp>
      <p:sp>
        <p:nvSpPr>
          <p:cNvPr id="22" name="Text 8"/>
          <p:cNvSpPr/>
          <p:nvPr/>
        </p:nvSpPr>
        <p:spPr>
          <a:xfrm>
            <a:off x="3501390" y="6515100"/>
            <a:ext cx="1051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قائمة المهام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962025" y="6419850"/>
            <a:ext cx="1028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مهمة</a:t>
            </a:r>
            <a:endParaRPr lang="en-US" sz="1200" dirty="0"/>
          </a:p>
        </p:txBody>
      </p:sp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426B9782-024D-D4A9-9446-5EF0D5B85F3E}"/>
              </a:ext>
            </a:extLst>
          </p:cNvPr>
          <p:cNvSpPr/>
          <p:nvPr/>
        </p:nvSpPr>
        <p:spPr>
          <a:xfrm>
            <a:off x="3009900" y="1551962"/>
            <a:ext cx="2438400" cy="4753587"/>
          </a:xfrm>
          <a:prstGeom prst="roundRect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5" name="مستطيل: زوايا مستديرة 24">
            <a:extLst>
              <a:ext uri="{FF2B5EF4-FFF2-40B4-BE49-F238E27FC236}">
                <a16:creationId xmlns:a16="http://schemas.microsoft.com/office/drawing/2014/main" id="{3CD616CB-A578-DA9F-F995-CC9887912EA4}"/>
              </a:ext>
            </a:extLst>
          </p:cNvPr>
          <p:cNvSpPr/>
          <p:nvPr/>
        </p:nvSpPr>
        <p:spPr>
          <a:xfrm>
            <a:off x="645952" y="2056789"/>
            <a:ext cx="1982948" cy="4191611"/>
          </a:xfrm>
          <a:prstGeom prst="round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066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2900"/>
            <a:ext cx="3429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4290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371600"/>
            <a:ext cx="5676900" cy="468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6650" y="1628775"/>
            <a:ext cx="3619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5900" y="2095500"/>
            <a:ext cx="2552700" cy="116830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095500"/>
            <a:ext cx="2552700" cy="116830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5900" y="3378101"/>
            <a:ext cx="2552700" cy="1168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378101"/>
            <a:ext cx="2552700" cy="1168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660850"/>
            <a:ext cx="5219700" cy="1168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9450" y="1371600"/>
            <a:ext cx="2762250" cy="2343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9125" y="2028825"/>
            <a:ext cx="3429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0" y="1371600"/>
            <a:ext cx="2762250" cy="2343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7338" y="2028825"/>
            <a:ext cx="25717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3867150"/>
            <a:ext cx="5676900" cy="1562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4500" y="413385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62600" y="459105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62600" y="497205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372225"/>
            <a:ext cx="12192000" cy="495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33700" y="6543675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52575" y="6543675"/>
            <a:ext cx="1143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482840" y="304800"/>
            <a:ext cx="42519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التدويل والثيمات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4880610" y="1600200"/>
            <a:ext cx="62636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lvl="1" algn="r" rtl="1">
              <a:lnSpc>
                <a:spcPts val="2700"/>
              </a:lnSpc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دعم </a:t>
            </a:r>
            <a:r>
              <a:rPr lang="en-US" sz="2250" b="1" dirty="0" err="1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لغوي</a:t>
            </a: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2250" b="1" dirty="0" err="1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عالمي</a:t>
            </a: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(5 languages) </a:t>
            </a:r>
            <a:endParaRPr lang="en-US" sz="2250" dirty="0"/>
          </a:p>
        </p:txBody>
      </p:sp>
      <p:sp>
        <p:nvSpPr>
          <p:cNvPr id="26" name="Text 2"/>
          <p:cNvSpPr/>
          <p:nvPr/>
        </p:nvSpPr>
        <p:spPr>
          <a:xfrm>
            <a:off x="11171366" y="2479016"/>
            <a:ext cx="2505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🇾🇪</a:t>
            </a:r>
            <a:endParaRPr lang="en-US" sz="2250" dirty="0"/>
          </a:p>
        </p:txBody>
      </p:sp>
      <p:sp>
        <p:nvSpPr>
          <p:cNvPr id="27" name="Text 3"/>
          <p:cNvSpPr/>
          <p:nvPr/>
        </p:nvSpPr>
        <p:spPr>
          <a:xfrm>
            <a:off x="10463004" y="2546300"/>
            <a:ext cx="662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 </a:t>
            </a:r>
            <a:r>
              <a:rPr lang="en-US" sz="1500" b="1" dirty="0" err="1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لعربية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8417927" y="2508200"/>
            <a:ext cx="2505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/>
              <a:t>U</a:t>
            </a:r>
          </a:p>
        </p:txBody>
      </p:sp>
      <p:sp>
        <p:nvSpPr>
          <p:cNvPr id="29" name="Text 5"/>
          <p:cNvSpPr/>
          <p:nvPr/>
        </p:nvSpPr>
        <p:spPr>
          <a:xfrm>
            <a:off x="7544544" y="2546300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الإنجليزية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11084927" y="3790801"/>
            <a:ext cx="2505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🇫🇷</a:t>
            </a:r>
            <a:endParaRPr lang="en-US" sz="2250" dirty="0"/>
          </a:p>
        </p:txBody>
      </p:sp>
      <p:sp>
        <p:nvSpPr>
          <p:cNvPr id="31" name="Text 7"/>
          <p:cNvSpPr/>
          <p:nvPr/>
        </p:nvSpPr>
        <p:spPr>
          <a:xfrm>
            <a:off x="10129629" y="3824079"/>
            <a:ext cx="8801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الفرنسية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8417927" y="3790801"/>
            <a:ext cx="2505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🇹🇷</a:t>
            </a:r>
            <a:endParaRPr lang="en-US" sz="2250" dirty="0"/>
          </a:p>
        </p:txBody>
      </p:sp>
      <p:sp>
        <p:nvSpPr>
          <p:cNvPr id="33" name="Text 9"/>
          <p:cNvSpPr/>
          <p:nvPr/>
        </p:nvSpPr>
        <p:spPr>
          <a:xfrm>
            <a:off x="7636877" y="3841700"/>
            <a:ext cx="68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التركية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11084927" y="5073551"/>
            <a:ext cx="2505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🇨🇳</a:t>
            </a:r>
            <a:endParaRPr lang="en-US" sz="2250" dirty="0"/>
          </a:p>
        </p:txBody>
      </p:sp>
      <p:sp>
        <p:nvSpPr>
          <p:cNvPr id="35" name="Text 11"/>
          <p:cNvSpPr/>
          <p:nvPr/>
        </p:nvSpPr>
        <p:spPr>
          <a:xfrm>
            <a:off x="10382994" y="5111651"/>
            <a:ext cx="74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الصينية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3817620" y="2486025"/>
            <a:ext cx="15659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الوضع الفاتح</a:t>
            </a:r>
            <a:endParaRPr lang="en-US" sz="1800" dirty="0"/>
          </a:p>
        </p:txBody>
      </p:sp>
      <p:sp>
        <p:nvSpPr>
          <p:cNvPr id="37" name="Text 13"/>
          <p:cNvSpPr/>
          <p:nvPr/>
        </p:nvSpPr>
        <p:spPr>
          <a:xfrm>
            <a:off x="3777615" y="2828925"/>
            <a:ext cx="1645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نظيفة وواضحة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25830" y="2486025"/>
            <a:ext cx="15201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الوضع الليلي</a:t>
            </a:r>
            <a:endParaRPr lang="en-US" sz="1800" dirty="0"/>
          </a:p>
        </p:txBody>
      </p:sp>
      <p:sp>
        <p:nvSpPr>
          <p:cNvPr id="39" name="Text 15"/>
          <p:cNvSpPr/>
          <p:nvPr/>
        </p:nvSpPr>
        <p:spPr>
          <a:xfrm>
            <a:off x="805815" y="2828925"/>
            <a:ext cx="1760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مريح للعين (Dark Mode)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190500" y="409575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تخصيص كامل للمستخدم</a:t>
            </a:r>
            <a:endParaRPr lang="en-US" sz="1800" dirty="0"/>
          </a:p>
        </p:txBody>
      </p:sp>
      <p:sp>
        <p:nvSpPr>
          <p:cNvPr id="41" name="Text 17"/>
          <p:cNvSpPr/>
          <p:nvPr/>
        </p:nvSpPr>
        <p:spPr>
          <a:xfrm>
            <a:off x="-1821180" y="4552950"/>
            <a:ext cx="6492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تغيير ألوان التطبيق الأساسية</a:t>
            </a:r>
            <a:endParaRPr lang="en-US" sz="1500" dirty="0"/>
          </a:p>
        </p:txBody>
      </p:sp>
      <p:sp>
        <p:nvSpPr>
          <p:cNvPr id="42" name="Text 18"/>
          <p:cNvSpPr/>
          <p:nvPr/>
        </p:nvSpPr>
        <p:spPr>
          <a:xfrm>
            <a:off x="-1821180" y="4933950"/>
            <a:ext cx="6492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التحكم في أحجام الخطوط (Accessibility)</a:t>
            </a:r>
            <a:endParaRPr lang="en-US" sz="1500" dirty="0"/>
          </a:p>
        </p:txBody>
      </p:sp>
      <p:sp>
        <p:nvSpPr>
          <p:cNvPr id="43" name="Text 19"/>
          <p:cNvSpPr/>
          <p:nvPr/>
        </p:nvSpPr>
        <p:spPr>
          <a:xfrm>
            <a:off x="6475095" y="6515100"/>
            <a:ext cx="28689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Pro (Hybrid Edition) - 2026</a:t>
            </a:r>
            <a:endParaRPr lang="en-US" sz="1050" dirty="0"/>
          </a:p>
        </p:txBody>
      </p:sp>
      <p:sp>
        <p:nvSpPr>
          <p:cNvPr id="44" name="Text 20"/>
          <p:cNvSpPr/>
          <p:nvPr/>
        </p:nvSpPr>
        <p:spPr>
          <a:xfrm>
            <a:off x="2729955" y="6505575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GetX Localization</a:t>
            </a:r>
            <a:endParaRPr lang="en-US" sz="1050" dirty="0"/>
          </a:p>
        </p:txBody>
      </p:sp>
      <p:sp>
        <p:nvSpPr>
          <p:cNvPr id="45" name="Text 21"/>
          <p:cNvSpPr/>
          <p:nvPr/>
        </p:nvSpPr>
        <p:spPr>
          <a:xfrm>
            <a:off x="1278345" y="6513662"/>
            <a:ext cx="1451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Dynamic Theming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2776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16383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4750" y="17526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810941"/>
            <a:ext cx="5486400" cy="104060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0" y="2001441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003947"/>
            <a:ext cx="5486400" cy="1040606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075" y="3194447"/>
            <a:ext cx="20002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196953"/>
            <a:ext cx="5486400" cy="104060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3075" y="4387453"/>
            <a:ext cx="200025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905500"/>
            <a:ext cx="11277600" cy="495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619125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6191250"/>
            <a:ext cx="152400" cy="152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28575" y="457200"/>
            <a:ext cx="1104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شاشة الدردشة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-1952625" y="99060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i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Interactive Chat Interface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9435465" y="1657350"/>
            <a:ext cx="1565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مساعد Event Manager</a:t>
            </a:r>
            <a:endParaRPr lang="en-US" sz="1050" dirty="0"/>
          </a:p>
        </p:txBody>
      </p:sp>
      <p:sp>
        <p:nvSpPr>
          <p:cNvPr id="30" name="Text 3"/>
          <p:cNvSpPr/>
          <p:nvPr/>
        </p:nvSpPr>
        <p:spPr>
          <a:xfrm>
            <a:off x="9705975" y="1847850"/>
            <a:ext cx="13049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DBEAFE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متصل الآن</a:t>
            </a:r>
            <a:endParaRPr lang="en-US" sz="900" dirty="0"/>
          </a:p>
        </p:txBody>
      </p:sp>
      <p:sp>
        <p:nvSpPr>
          <p:cNvPr id="35" name="Text 8"/>
          <p:cNvSpPr/>
          <p:nvPr/>
        </p:nvSpPr>
        <p:spPr>
          <a:xfrm>
            <a:off x="2990850" y="2001441"/>
            <a:ext cx="2228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مساعد ذكي مدمج</a:t>
            </a:r>
            <a:endParaRPr lang="en-US" sz="1800" dirty="0"/>
          </a:p>
        </p:txBody>
      </p:sp>
      <p:sp>
        <p:nvSpPr>
          <p:cNvPr id="36" name="Text 9"/>
          <p:cNvSpPr/>
          <p:nvPr/>
        </p:nvSpPr>
        <p:spPr>
          <a:xfrm>
            <a:off x="-373380" y="2382441"/>
            <a:ext cx="6126480" cy="2786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توفر شاشة الدردشة واجهة تفاعلية تعمل كـ "بوت" للمساعدة السريعة.</a:t>
            </a:r>
            <a:endParaRPr lang="en-US" sz="1350" dirty="0"/>
          </a:p>
        </p:txBody>
      </p:sp>
      <p:sp>
        <p:nvSpPr>
          <p:cNvPr id="37" name="Text 10"/>
          <p:cNvSpPr/>
          <p:nvPr/>
        </p:nvSpPr>
        <p:spPr>
          <a:xfrm>
            <a:off x="2352675" y="3194447"/>
            <a:ext cx="2971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إدارة الملاحظات السريعة</a:t>
            </a:r>
            <a:endParaRPr lang="en-US" sz="1800" dirty="0"/>
          </a:p>
        </p:txBody>
      </p:sp>
      <p:sp>
        <p:nvSpPr>
          <p:cNvPr id="38" name="Text 11"/>
          <p:cNvSpPr/>
          <p:nvPr/>
        </p:nvSpPr>
        <p:spPr>
          <a:xfrm>
            <a:off x="-373380" y="3575447"/>
            <a:ext cx="6126480" cy="2786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 استخدام الواجهة لتدوين أفكار أو ملاحظات فورية تتعلق بالفعاليات.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2948940" y="4387453"/>
            <a:ext cx="23660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تواصل فعال وسريع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-373380" y="4768453"/>
            <a:ext cx="6126480" cy="2786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تصميم بسيط يركز على السرعة وسهولة الوصول، مما يعزز الإنتاجية.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7309485" y="6134100"/>
            <a:ext cx="43776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Event Manager Pro - إدارة ذكية وتواصل سلس</a:t>
            </a:r>
            <a:endParaRPr lang="en-US" sz="1350" dirty="0"/>
          </a:p>
        </p:txBody>
      </p:sp>
      <p:sp>
        <p:nvSpPr>
          <p:cNvPr id="42" name="مستطيل: زوايا مستديرة 41">
            <a:extLst>
              <a:ext uri="{FF2B5EF4-FFF2-40B4-BE49-F238E27FC236}">
                <a16:creationId xmlns:a16="http://schemas.microsoft.com/office/drawing/2014/main" id="{6275CC93-8AE2-416D-A62B-72E6F54B1803}"/>
              </a:ext>
            </a:extLst>
          </p:cNvPr>
          <p:cNvSpPr/>
          <p:nvPr/>
        </p:nvSpPr>
        <p:spPr>
          <a:xfrm>
            <a:off x="7753350" y="1324671"/>
            <a:ext cx="2499360" cy="4501551"/>
          </a:xfrm>
          <a:prstGeom prst="roundRect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52500"/>
            <a:ext cx="1219200" cy="571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238250"/>
            <a:ext cx="5562600" cy="3905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2328863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8063" y="2424113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238250"/>
            <a:ext cx="5562600" cy="3905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15430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950" y="16383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228850"/>
            <a:ext cx="49530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3500" y="2343150"/>
            <a:ext cx="3810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838450"/>
            <a:ext cx="4953000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0" y="2952750"/>
            <a:ext cx="3810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3448050"/>
            <a:ext cx="4953000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0" y="3562350"/>
            <a:ext cx="3810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5372100"/>
            <a:ext cx="114300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52625" y="5619750"/>
            <a:ext cx="14478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76375" y="5781675"/>
            <a:ext cx="24765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7750" y="5781675"/>
            <a:ext cx="276225" cy="2857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781675"/>
            <a:ext cx="285750" cy="2857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-762000" y="381000"/>
            <a:ext cx="13716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الخاتمة والعمل المستقبلي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8397240" y="2386013"/>
            <a:ext cx="23088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ملخص التطبيق</a:t>
            </a:r>
            <a:endParaRPr lang="en-US" sz="2250" dirty="0"/>
          </a:p>
        </p:txBody>
      </p:sp>
      <p:sp>
        <p:nvSpPr>
          <p:cNvPr id="23" name="Text 2"/>
          <p:cNvSpPr/>
          <p:nvPr/>
        </p:nvSpPr>
        <p:spPr>
          <a:xfrm>
            <a:off x="6701287" y="3271837"/>
            <a:ext cx="49530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Event Manager Pro</a:t>
            </a:r>
            <a:r>
              <a:rPr lang="en-US" sz="1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يوفر حلًا متكاملاً بين أمان السحاب وسرعة التخزين المحلي، مما يوفر للمستخدم أداة قوية لإدارة الفعاليات في أي وقت وأي مكان.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2223135" y="1600200"/>
            <a:ext cx="27203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الرؤية المستقبلية</a:t>
            </a:r>
            <a:endParaRPr lang="en-US" sz="2250" dirty="0"/>
          </a:p>
        </p:txBody>
      </p:sp>
      <p:sp>
        <p:nvSpPr>
          <p:cNvPr id="25" name="Text 4"/>
          <p:cNvSpPr/>
          <p:nvPr/>
        </p:nvSpPr>
        <p:spPr>
          <a:xfrm>
            <a:off x="2400300" y="2343150"/>
            <a:ext cx="2686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الإشعارات الذكية والتذكيرات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2251710" y="2952750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كامل مع تقويم الهاتف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2686050" y="35623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تصدير تقارير PDF مخصصة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7896225" y="5600700"/>
            <a:ext cx="3429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 لحسن استماعكم</a:t>
            </a:r>
            <a:endParaRPr lang="en-US" sz="2250" dirty="0"/>
          </a:p>
        </p:txBody>
      </p:sp>
      <p:sp>
        <p:nvSpPr>
          <p:cNvPr id="29" name="Text 8"/>
          <p:cNvSpPr/>
          <p:nvPr/>
        </p:nvSpPr>
        <p:spPr>
          <a:xfrm>
            <a:off x="8001000" y="598170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60A5F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هل لديكم أي أسئلة أو استفسارات؟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2428875" y="5695950"/>
            <a:ext cx="990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إعداد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2244647" y="5915025"/>
            <a:ext cx="1188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البراء - 2026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1031</Words>
  <Application>Microsoft Office PowerPoint</Application>
  <PresentationFormat>شاشة عريضة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9" baseType="lpstr">
      <vt:lpstr>Arial</vt:lpstr>
      <vt:lpstr>Cairo</vt:lpstr>
      <vt:lpstr>Tajawal</vt:lpstr>
      <vt:lpstr>ui-monospace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ALBARA FAHED</cp:lastModifiedBy>
  <cp:revision>3</cp:revision>
  <dcterms:created xsi:type="dcterms:W3CDTF">2026-01-30T13:27:37Z</dcterms:created>
  <dcterms:modified xsi:type="dcterms:W3CDTF">2026-01-30T16:03:23Z</dcterms:modified>
</cp:coreProperties>
</file>